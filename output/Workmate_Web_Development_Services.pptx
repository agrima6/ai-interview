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fac12bd45c49b3" /><Relationship Type="http://schemas.openxmlformats.org/officeDocument/2006/relationships/extended-properties" Target="/docProps/app.xml" Id="R28fde9627fdf4ee0" /><Relationship Type="http://schemas.openxmlformats.org/officeDocument/2006/relationships/officeDocument" Target="/ppt/presentation.xml" Id="R4986924ccdd242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4b4adc5c014ae7"/>
  </p:sldMasterIdLst>
  <p:notesMasterIdLst>
    <p:notesMasterId xmlns:r="http://schemas.openxmlformats.org/officeDocument/2006/relationships" r:id="R545f930f38c24d07"/>
  </p:notesMasterIdLst>
  <p:sldIdLst>
    <p:sldId xmlns:r="http://schemas.openxmlformats.org/officeDocument/2006/relationships" id="256" r:id="R4d828719719c42f8"/>
    <p:sldId xmlns:r="http://schemas.openxmlformats.org/officeDocument/2006/relationships" id="257" r:id="R9c99f661cd9b478d"/>
    <p:sldId xmlns:r="http://schemas.openxmlformats.org/officeDocument/2006/relationships" id="258" r:id="Rfce97685ad774be3"/>
    <p:sldId xmlns:r="http://schemas.openxmlformats.org/officeDocument/2006/relationships" id="259" r:id="Rafd27385eec54668"/>
    <p:sldId xmlns:r="http://schemas.openxmlformats.org/officeDocument/2006/relationships" id="260" r:id="Rf5d43ee330344a4b"/>
    <p:sldId xmlns:r="http://schemas.openxmlformats.org/officeDocument/2006/relationships" id="261" r:id="R1e941e0fa06b4387"/>
    <p:sldId xmlns:r="http://schemas.openxmlformats.org/officeDocument/2006/relationships" id="262" r:id="Raa1aa7861a084016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dffe9a0904d66" /><Relationship Type="http://schemas.openxmlformats.org/officeDocument/2006/relationships/slideMaster" Target="/ppt/slideMasters/slideMaster1.xml" Id="R534b4adc5c014ae7" /><Relationship Type="http://schemas.openxmlformats.org/officeDocument/2006/relationships/notesMaster" Target="/ppt/notesMasters/notesMaster1.xml" Id="R545f930f38c24d07" /><Relationship Type="http://schemas.openxmlformats.org/officeDocument/2006/relationships/presProps" Target="/ppt/presProps.xml" Id="R22b102b8c71a4e77" /><Relationship Type="http://schemas.openxmlformats.org/officeDocument/2006/relationships/tableStyles" Target="/ppt/tableStyles.xml" Id="Rb8fa7b97f82b49cb" /><Relationship Type="http://schemas.openxmlformats.org/officeDocument/2006/relationships/slide" Target="/ppt/slides/slide1.xml" Id="R4d828719719c42f8" /><Relationship Type="http://schemas.openxmlformats.org/officeDocument/2006/relationships/slide" Target="/ppt/slides/slide2.xml" Id="R9c99f661cd9b478d" /><Relationship Type="http://schemas.openxmlformats.org/officeDocument/2006/relationships/slide" Target="/ppt/slides/slide3.xml" Id="Rfce97685ad774be3" /><Relationship Type="http://schemas.openxmlformats.org/officeDocument/2006/relationships/slide" Target="/ppt/slides/slide4.xml" Id="Rafd27385eec54668" /><Relationship Type="http://schemas.openxmlformats.org/officeDocument/2006/relationships/slide" Target="/ppt/slides/slide5.xml" Id="Rf5d43ee330344a4b" /><Relationship Type="http://schemas.openxmlformats.org/officeDocument/2006/relationships/slide" Target="/ppt/slides/slide6.xml" Id="R1e941e0fa06b4387" /><Relationship Type="http://schemas.openxmlformats.org/officeDocument/2006/relationships/slide" Target="/ppt/slides/slide7.xml" Id="Raa1aa7861a08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8805fa5be43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da37d17fa40fa" /><Relationship Type="http://schemas.openxmlformats.org/officeDocument/2006/relationships/notesMaster" Target="/ppt/notesMasters/notesMaster1.xml" Id="Re1e5d5b6a7544f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90910bf9c74f06" /><Relationship Type="http://schemas.openxmlformats.org/officeDocument/2006/relationships/notesMaster" Target="/ppt/notesMasters/notesMaster1.xml" Id="R22d1abb2347c43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aeb56680694505" /><Relationship Type="http://schemas.openxmlformats.org/officeDocument/2006/relationships/notesMaster" Target="/ppt/notesMasters/notesMaster1.xml" Id="R9df6a623c7f94b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9b33c85a9e40f3" /><Relationship Type="http://schemas.openxmlformats.org/officeDocument/2006/relationships/notesMaster" Target="/ppt/notesMasters/notesMaster1.xml" Id="R42dd208c872341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0654c378ea476e" /><Relationship Type="http://schemas.openxmlformats.org/officeDocument/2006/relationships/notesMaster" Target="/ppt/notesMasters/notesMaster1.xml" Id="R7a8704707fb642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89a396e87944d6" /><Relationship Type="http://schemas.openxmlformats.org/officeDocument/2006/relationships/notesMaster" Target="/ppt/notesMasters/notesMaster1.xml" Id="R25a9dbd5a4f547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2a951331e4af1" /><Relationship Type="http://schemas.openxmlformats.org/officeDocument/2006/relationships/notesMaster" Target="/ppt/notesMasters/notesMaster1.xml" Id="R5c69b527d31e43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Workmate Consultancy Services Introduction.pdf - visual template, company positioning and web/software service scope.</a:t>
            </a:r>
          </a:p>
          <a:p xmlns:a="http://schemas.openxmlformats.org/drawingml/2006/main">
            <a:r>
              <a:t>Workmate_Cybersecurity_Proposal.pptx (3).pdf - consulting tone and secure delivery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brief - stated client web-development challenges and business-impact framing.</a:t>
            </a:r>
          </a:p>
          <a:p xmlns:a="http://schemas.openxmlformats.org/drawingml/2006/main">
            <a:r>
              <a:t>Workmate Consultancy Services Introduction.pdf - consulting and custom software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Workmate Consultancy Services Introduction.pdf - Custom Software Development, Cloud Services, DevOps &amp; Quality Engineering, Managed IT Services.</a:t>
            </a:r>
          </a:p>
          <a:p xmlns:a="http://schemas.openxmlformats.org/drawingml/2006/main">
            <a:r>
              <a:t>User-provided brief - requested end-to-end web development capability groups.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Workmate Consultancy Services Introduction.pdf - Discover, Design &amp; Plan, Deliver, Sustain &amp; Scale process pattern.</a:t>
            </a:r>
          </a:p>
          <a:p xmlns:a="http://schemas.openxmlformats.org/drawingml/2006/main">
            <a:r>
              <a:t>Workmate_Cybersecurity_Proposal.pptx (3).pdf - structured planning, status updates, quality review and closure discipline.</a:t>
            </a:r>
          </a:p>
          <a:p xmlns:a="http://schemas.openxmlformats.org/drawingml/2006/main">
            <a:r>
              <a:t>User-provided reference image - information organization only; visual system follows PDF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Workmate Consultancy Services Introduction.pdf - DevOps &amp; Quality Engineering, Cloud Services and Cybersecurity &amp; Compliance capability descriptions.</a:t>
            </a:r>
          </a:p>
          <a:p xmlns:a="http://schemas.openxmlformats.org/drawingml/2006/main">
            <a:r>
              <a:t>Workmate_Cybersecurity_Proposal.pptx (3).pdf - application/API security, authentication/authorization and validation themes.</a:t>
            </a:r>
          </a:p>
          <a:p xmlns:a="http://schemas.openxmlformats.org/drawingml/2006/main">
            <a:r>
              <a:t>User-provided brief - engineering pillars for web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Workmate Consultancy Services Introduction.pdf - Staff Augmentation, Dedicated Team, Project-Based Delivery and Managed Services models.</a:t>
            </a:r>
          </a:p>
          <a:p xmlns:a="http://schemas.openxmlformats.org/drawingml/2006/main">
            <a:r>
              <a:t>User-provided reference image - clean 2x2 information architecture only; visual system follows PDF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Workmate Consultancy Services Introduction.pdf - verified differentiators and official contact information.</a:t>
            </a:r>
          </a:p>
          <a:p xmlns:a="http://schemas.openxmlformats.org/drawingml/2006/main">
            <a:r>
              <a:t>Workmate_Cybersecurity_Proposal.pptx (3).pdf - senior involvement, transparent reporting and long-term partnership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1a82ee50648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78e900f51e4eef" /><Relationship Type="http://schemas.openxmlformats.org/officeDocument/2006/relationships/slideLayout" Target="/ppt/slideLayouts/slideLayout1.xml" Id="R1531c2b07f774a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1c2b07f774a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c5ff5e484335" /><Relationship Type="http://schemas.openxmlformats.org/officeDocument/2006/relationships/image" Target="/ppt/media/image.png" Id="R31f992c47ecf4c0b" /><Relationship Type="http://schemas.openxmlformats.org/officeDocument/2006/relationships/notesSlide" Target="/ppt/notesSlides/notesSlide1.xml" Id="Rc477a242ab2d42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93335f3854577" /><Relationship Type="http://schemas.openxmlformats.org/officeDocument/2006/relationships/image" Target="/ppt/media/image2.png" Id="R4cbd4f1a717d43c1" /><Relationship Type="http://schemas.openxmlformats.org/officeDocument/2006/relationships/notesSlide" Target="/ppt/notesSlides/notesSlide2.xml" Id="Rf7d8a4dc51b54e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f0ea28c0641ad" /><Relationship Type="http://schemas.openxmlformats.org/officeDocument/2006/relationships/image" Target="/ppt/media/image3.png" Id="Rf0b9080fa8384b73" /><Relationship Type="http://schemas.openxmlformats.org/officeDocument/2006/relationships/notesSlide" Target="/ppt/notesSlides/notesSlide3.xml" Id="Rf7920f4c267440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724e798e1435e" /><Relationship Type="http://schemas.openxmlformats.org/officeDocument/2006/relationships/image" Target="/ppt/media/image4.png" Id="Re7879de422564af3" /><Relationship Type="http://schemas.openxmlformats.org/officeDocument/2006/relationships/notesSlide" Target="/ppt/notesSlides/notesSlide4.xml" Id="R88e21029be2142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aef7408544015" /><Relationship Type="http://schemas.openxmlformats.org/officeDocument/2006/relationships/image" Target="/ppt/media/image5.png" Id="R2babc0ebd1824bb4" /><Relationship Type="http://schemas.openxmlformats.org/officeDocument/2006/relationships/notesSlide" Target="/ppt/notesSlides/notesSlide5.xml" Id="R2efe0e8a00c448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bfc16520241f3" /><Relationship Type="http://schemas.openxmlformats.org/officeDocument/2006/relationships/image" Target="/ppt/media/image6.png" Id="R5c36e3b5dde344c9" /><Relationship Type="http://schemas.openxmlformats.org/officeDocument/2006/relationships/notesSlide" Target="/ppt/notesSlides/notesSlide6.xml" Id="R2b14630c63274f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bde3469514907" /><Relationship Type="http://schemas.openxmlformats.org/officeDocument/2006/relationships/image" Target="/ppt/media/image7.png" Id="Rac535e1ff7d9427d" /><Relationship Type="http://schemas.openxmlformats.org/officeDocument/2006/relationships/notesSlide" Target="/ppt/notesSlides/notesSlide7.xml" Id="Red0cc2e491714c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">
            <a:extLst xmlns:a="http://schemas.openxmlformats.org/drawingml/2006/main">
              <a:ext uri="{FF2B5EF4-FFF2-40B4-BE49-F238E27FC236}">
                <a16:creationId xmlns:a16="http://schemas.microsoft.com/office/drawing/2014/main" id="{18FCCBDE-ECB8-42D9-A17C-D676D02C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992c47ecf4c0b"/>
          <a:stretch xmlns:a="http://schemas.openxmlformats.org/drawingml/2006/main"/>
        </p:blipFill>
        <p:spPr>
          <a:xfrm xmlns:a="http://schemas.openxmlformats.org/drawingml/2006/main">
            <a:off x="863645" y="876300"/>
            <a:ext cx="3701959" cy="1162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DBE99-8819-4436-94FD-93B079D9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95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B38F3-41F3-44D4-A94F-30A6D762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95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5D067-CB0B-44DC-BF1A-9041E03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3EEC2-7D2F-4E53-BE7C-6B0FEA84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95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6720A-EA66-4554-81F9-789B447C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1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6DC91-1062-445B-9D79-45CDFCC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11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56626-4F6B-42A4-AA1A-5A0863C9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1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7DAF9-5801-4807-82AC-AE7844CB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11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DD542-DE90-4DDB-ACC9-C22E6121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7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4D09B-6539-4492-830C-1653ADA9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7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C7F27-29C0-41EA-9C28-F6CE73B8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7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B368E-5A29-41EC-ACA7-63121242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7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82A0A-E4F2-454B-B135-2170E429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38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F5F8F-DF7D-4DF3-A78C-FDC55F81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438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538F2-D3C5-4FC9-A16E-FC336683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38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B7401-D053-4348-B8D9-A3A5A82D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438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CE7FD2E-2747-4AF8-AE00-6A538C2D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Web Development That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Moves Business Forward.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D9FAC-C25D-4BFB-A57E-2748369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AFA1C9F-B950-44AE-A801-B94CB6BE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48375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Workmate helps organizations strategize, design, build, modernize, secure and scale web platforms around real business goals.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9719A-F071-4E85-B503-AF79A8FA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678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1C28A-9688-4E59-82D8-92460F37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www.wcspl.net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96FE3-A5F1-4FF1-BD33-1B68020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92392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Strategy  |  Design  |  Engineering  |  Quality  |  Support</a:t>
            </a:r>
          </a:p>
        </p:txBody>
      </p:sp>
    </p:spTree>
    <p:extLst>
      <p:ext uri="{BB962C8B-B14F-4D97-AF65-F5344CB8AC3E}">
        <p14:creationId xmlns:p14="http://schemas.microsoft.com/office/powerpoint/2010/main" val="583971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d4f1a717d43c1"/>
          <a:stretch xmlns:a="http://schemas.openxmlformats.org/drawingml/2006/main"/>
        </p:blipFill>
        <p:spPr>
          <a:xfrm xmlns:a="http://schemas.openxmlformats.org/drawingml/2006/main">
            <a:off x="685800" y="466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932F7C4F-8326-49CF-8A34-3AB9B078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WORKMATE CONSULTANCY SERVICES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D07998B-EB8F-4F9D-ADA9-74313BE1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38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BUSINESS CONTEXT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6EA7053-A9A4-49E2-ACB0-B037732B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350E66-356D-49CA-9824-5245D9C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0115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6" name="footer-company">
            <a:extLst xmlns:a="http://schemas.openxmlformats.org/drawingml/2006/main">
              <a:ext uri="{FF2B5EF4-FFF2-40B4-BE49-F238E27FC236}">
                <a16:creationId xmlns:a16="http://schemas.microsoft.com/office/drawing/2014/main" id="{B257007E-85C5-46BA-9724-B563CE6C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Workmate Consultancy Services Pvt. Ltd.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5E655D-E18D-4C21-BE9D-87054D2B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334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119E3D-0769-456C-9BA5-F14E2425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636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Your Website Is Business Infrastructure</a:t>
            </a:r>
          </a:p>
        </p:txBody>
      </p:sp>
      <p:sp>
        <p:nvSpPr>
          <p:cNvPr id="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909B2E-0427-41D5-BC95-6A2060FF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When the experience, architecture or release process falls behind, the business feels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12F22-77BF-479A-B834-1A9F5CCA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CONSTRAINT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A5CD1-7E86-403C-98AA-2ACA63D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BUSINESS IMPACT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74087-2741-4A5F-B68A-67931C49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2DF14-2725-46B4-97E9-5DDAD4E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F4F91-1456-4C16-B12C-19808EDC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Legacy technology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A3293-13D4-4B00-9FE0-CC82BACC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3CE22-A4E6-44BE-A961-AC2A6A46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Higher maintenance effort and slower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FA8D9-E724-458C-993D-AC5878A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B2EA7-24AA-4985-A100-A6AA75B6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6BE60-8C1E-4A14-A27E-3602C37E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Poor user journeys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76E60-E607-4B0D-8914-E7B31C20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00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825C1-6AE5-46E6-B724-382E8C86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100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Lost engagement, trust and conversion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F8D01-8CD3-435F-BA38-0C71D3A2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91665-C180-40F9-9A54-CF5B4DF4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78D28-5547-4361-847D-D47A9A71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Performance bottlenecks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7A97C-9950-4227-8EC4-53223FAA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530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8191C-4B54-42DD-AFFE-9874FA62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530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Abandonment across mobile and low-bandwidth users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B591C8-7AA1-41BF-B320-1AA73E50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31367-992C-481D-9A6D-682BF91E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7EA6A-6160-4D74-A2F8-FCFB74EA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496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Fragmented integrations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F3EEC-0118-4321-815D-AA4093FD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4960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CA87C-B0AB-42D6-8D44-7D8144AC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960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Manual work, inconsistent data and brittle operations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08464D-09C9-4198-BEBF-318FECFE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7725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57C682-EB60-4E13-B06D-F0E9C81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3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DC1465-758E-45A2-AF5B-9D40AA11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39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Rigid architecture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DB699B-1886-42C3-8C6A-8D3BB7E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76390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2BF755-C37A-456D-ABD9-FD2D7AC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6390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Slower product launches and limited room to scale</a:t>
            </a:r>
          </a:p>
        </p:txBody>
      </p:sp>
    </p:spTree>
    <p:extLst>
      <p:ext uri="{BB962C8B-B14F-4D97-AF65-F5344CB8AC3E}">
        <p14:creationId xmlns:p14="http://schemas.microsoft.com/office/powerpoint/2010/main" val="2090984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9080fa8384b73"/>
          <a:stretch xmlns:a="http://schemas.openxmlformats.org/drawingml/2006/main"/>
        </p:blipFill>
        <p:spPr>
          <a:xfrm xmlns:a="http://schemas.openxmlformats.org/drawingml/2006/main">
            <a:off x="685800" y="466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41189F65-3317-442E-81B3-708FB9C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WORKMATE CONSULTANCY SERVICES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6B8DD7E-3EB0-4800-8C6F-2A14C7AE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38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WEB DEVELOPMENT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39997A6-A4BB-4D23-B3C7-009C6294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6B3797-3135-4D25-9CC2-0FFB7AC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0115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6" name="footer-company">
            <a:extLst xmlns:a="http://schemas.openxmlformats.org/drawingml/2006/main">
              <a:ext uri="{FF2B5EF4-FFF2-40B4-BE49-F238E27FC236}">
                <a16:creationId xmlns:a16="http://schemas.microsoft.com/office/drawing/2014/main" id="{2DF10D0E-CA2E-4428-9F67-21699361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Workmate Consultancy Services Pvt. Ltd.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6E0852-C36C-4D85-9BDD-AFBE4B3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334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63F2C6-BDFB-4E12-ADAE-354359D6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636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One Partner Across the Web Lifecycle</a:t>
            </a:r>
          </a:p>
        </p:txBody>
      </p:sp>
      <p:sp>
        <p:nvSpPr>
          <p:cNvPr id="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C7AFE7-027F-45B5-9DF3-54500E35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Strategy, experience design, engineering and post-launch support stay connected from the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BB18F-0665-4144-98DE-8D2AA6D9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10515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D9E4F5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F4733-C61A-4F1D-9ED6-C3F8FC5D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C301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EC301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51A7A-77F5-478B-B5D9-8A630A54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Strategy &amp;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36CE8-16B1-4E0D-8532-B5CF6F44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Business goals, requirements, user journeys, system context and a practical delivery roadmap.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BBFC7-FD52-4212-AE18-0F0E6BA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310515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63D84-7303-4961-813E-09A46C1B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C301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EC301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742D7-7595-4F22-BB18-63266F89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67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UI/UX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D33F8-5EBD-471D-B7C6-EECD3817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48050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Wireframes, prototypes, responsive interaction patterns and a reusable visual system.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760BF-3D8F-4D3E-BB31-44C103A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310515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F00EB-034B-4596-AF6F-F28F578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C301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EC301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91F80-DF0D-4772-8A8B-BF25C2D2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Frontend Development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6CF54-445A-4D6E-88E8-6EB27B4F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Maintainable interfaces designed for accessibility, performance and consistent behavior.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454BFF-2C4B-4FB3-8671-C1829DB3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00575"/>
            <a:ext cx="310515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088C82-FB50-4791-9D7D-1CC01678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529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C301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EC301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C5C2B-E328-4CF4-8792-8369A3E4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196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Backend &amp; APIs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47644-AB04-4DE3-A06B-C85B2010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00675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Business logic, data services, integrations, authentication and reliable application workflows.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F3519-F295-4C13-AE44-17268A6B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310515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EAE8E8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C4A32C-1137-4EED-9B8A-051E625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05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C301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EC301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75B66-FDCF-4A2C-84D8-F5E09A0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972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Cloud &amp; 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8DD69-2C2B-40AA-8453-D3DA5FBF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53300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Scalable deployment, release automation, monitoring and operational readiness.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C6E6B-1AC7-42DF-8834-30DA29A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553200"/>
            <a:ext cx="310515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D9E4F5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8C2BC-BCC6-4B74-AAA1-8C8F654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705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EC301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EC3013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35506B-AA7C-44A5-9DE2-FC7C7A7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972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Support &amp; Optimization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0E50C7-A376-46D5-99D8-491D73B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7353300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Maintenance, issue resolution, enhancements and continuous performance improvement.</a:t>
            </a:r>
          </a:p>
        </p:txBody>
      </p:sp>
    </p:spTree>
    <p:extLst>
      <p:ext uri="{BB962C8B-B14F-4D97-AF65-F5344CB8AC3E}">
        <p14:creationId xmlns:p14="http://schemas.microsoft.com/office/powerpoint/2010/main" val="787758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79de422564af3"/>
          <a:stretch xmlns:a="http://schemas.openxmlformats.org/drawingml/2006/main"/>
        </p:blipFill>
        <p:spPr>
          <a:xfrm xmlns:a="http://schemas.openxmlformats.org/drawingml/2006/main">
            <a:off x="685800" y="466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DFA9D633-52AA-4298-B80A-D3B37728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WORKMATE CONSULTANCY SERVICES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8EF650C-8289-40C6-96A2-80EEF51B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38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HOW WE DELIVER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85C0EC1-5D4B-4E8B-A7AD-A9DDB0FB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2B19078-4530-4175-B241-290A2A58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0115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6" name="footer-company">
            <a:extLst xmlns:a="http://schemas.openxmlformats.org/drawingml/2006/main">
              <a:ext uri="{FF2B5EF4-FFF2-40B4-BE49-F238E27FC236}">
                <a16:creationId xmlns:a16="http://schemas.microsoft.com/office/drawing/2014/main" id="{8FF61D29-32F8-4A40-B29A-3699A822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Workmate Consultancy Services Pvt. Ltd.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263F34-9389-47FB-9A89-522420D5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334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7F7A28-372A-48FD-8BA2-D74466DB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636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A Clear Path From First Workshop to Scale</a:t>
            </a:r>
          </a:p>
        </p:txBody>
      </p:sp>
      <p:sp>
        <p:nvSpPr>
          <p:cNvPr id="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B21E42-9068-4E0D-B5AE-FE0A701F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Each phase turns uncertainty into an agreed decision, a working release or a measurable next step.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6C119-E7DD-489B-9C86-24D78A62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71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E18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AFDE6-198B-466D-933B-984980AE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71800"/>
            <a:ext cx="285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9D2FD-CD8E-475E-AFDC-7E376296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95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64AA0-A742-4735-AFF1-D3204D7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24150"/>
            <a:ext cx="57721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7469D-1802-4FE6-8862-D704FCBD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860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Discover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B2B5E-6423-4B4C-90C0-BD36EC38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765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Align on business objectives, users, current systems, constraints and success measures.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F77B2-C84C-4D2B-B111-D5CE4EA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62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8D9C2-03AB-4B79-BD32-C2D37AC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90950"/>
            <a:ext cx="57721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ECEC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DC188-0BBD-43CC-AB83-A31FCBFD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52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Design &amp; Architect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A2C51-1315-473B-BA36-2AD1B3F8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433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Define the experience, solution architecture, integrations, roadmap and acceptance criteria.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FC199-4BDC-404C-A242-700C142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29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9984A-FB59-4ECB-8012-D18B645D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57721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E21CD-9871-4424-8E41-9987738E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196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Build &amp; Integrate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A9F2F-2C0D-43A3-9F5C-783335F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01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Develop frontend and backend capabilities in visible increments with transparent progress.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53396-3361-4ED5-9AC3-803F7915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9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3FF197-3980-4642-B9F5-0597944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924550"/>
            <a:ext cx="57721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ECEC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37FE9-D8D1-430B-90F3-91F0CD7D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086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Test &amp; Launch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3380D-6332-4C7A-8A07-2D5E4397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0769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Validate function, responsiveness, performance, compatibility and security before release.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A47BB-C1B0-4BCB-9A8B-6110E8CE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162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solidFill>
              <a:srgbClr val="AE18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33AE7-F67F-4C18-813B-2C60739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991350"/>
            <a:ext cx="57721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3D7E4A-AD2D-4C42-B8FF-868E6DF0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153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Sustain &amp; 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A0402E-1EA9-4D88-BC0C-ABCD3BAA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71437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Monitor, maintain, optimize and extend the platform as demand and priorities evolve.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3CCB6-4F42-416C-973A-1F1D47C2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8248650"/>
            <a:ext cx="577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9FBFA0-3DCB-403F-A86E-10B50303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4010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VISIBLE DELIVERY RHYTHM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B57B1D-558A-488B-9BAB-D940A5BD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8372475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Named ownership, agreed checkpoints and clear communication throughout.</a:t>
            </a:r>
          </a:p>
        </p:txBody>
      </p:sp>
    </p:spTree>
    <p:extLst>
      <p:ext uri="{BB962C8B-B14F-4D97-AF65-F5344CB8AC3E}">
        <p14:creationId xmlns:p14="http://schemas.microsoft.com/office/powerpoint/2010/main" val="1772301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bc0ebd1824bb4"/>
          <a:stretch xmlns:a="http://schemas.openxmlformats.org/drawingml/2006/main"/>
        </p:blipFill>
        <p:spPr>
          <a:xfrm xmlns:a="http://schemas.openxmlformats.org/drawingml/2006/main">
            <a:off x="685800" y="466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AE87941E-7E07-4886-BD04-472C938D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WORKMATE CONSULTANCY SERVICES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B95CA2-D518-48F0-80CD-246F9A7D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38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ENGINEERING QUALITY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12D7CFB-0B6F-431B-8053-677BB3F3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63D2FFC-9609-49F3-B1F0-F76BE872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0115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6" name="footer-company">
            <a:extLst xmlns:a="http://schemas.openxmlformats.org/drawingml/2006/main">
              <a:ext uri="{FF2B5EF4-FFF2-40B4-BE49-F238E27FC236}">
                <a16:creationId xmlns:a16="http://schemas.microsoft.com/office/drawing/2014/main" id="{AECBA0F1-4C71-4190-9191-87F23559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Workmate Consultancy Services Pvt. Ltd.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BF1F01-041A-41E8-810B-CE2BECA9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334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9696B3-A5F6-4EBA-B74A-0DDC2F19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636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Built Beyond the Interface</a:t>
            </a:r>
          </a:p>
        </p:txBody>
      </p:sp>
      <p:sp>
        <p:nvSpPr>
          <p:cNvPr id="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D06A66-FB20-4FD3-AD1E-3FC98F51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The visible experience is supported by engineering choices that protect speed, reliability and room to grow.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C1BDA-DB83-41FD-9131-4D084F6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1051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D0C3B-9C0D-4F4B-BB7C-BFD608BB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B1322-F7D2-48C1-83D6-582F1275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E05CA-BE30-419A-BC42-731CE42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Efficient assets, rendering and delivery designed for responsive load and interaction.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60FA5-21B2-4947-9DCE-BEDA68F7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31051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6FD22-4D73-4DC0-A100-A26D9184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72BA0-D92D-4297-8DEC-0440A778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384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RESPONSIVE 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399AF-EFA2-4A10-BD97-ECCCC1E2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813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Consistent journeys across desktop, tablet and mobile breakpoints.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0B9F9-BC1A-4661-9D8C-5D268287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31051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6510C-1BF8-4729-88E7-41D3928A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A819E-9EB0-4245-B35E-75947AFA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SCALABLE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13F04-3948-468A-815F-7C76AB98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Modular components and services that can evolve with traffic and product scope.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EA008-B7EE-41DF-AB7B-3D56DAC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57700"/>
            <a:ext cx="31051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545B1-BB50-41B1-9BB3-1C30911B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577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CF42B-AD19-499E-9108-D48C921A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INTEGRATION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30AD9-754B-4590-A736-4370B4ED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9110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Connections to APIs, cloud services and business platforms where the solution requires them.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B91AC-B874-4882-8944-363ADCAF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31051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FC82AA-E372-4A0B-BF0D-38490DF8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5B67B-BDB9-482F-A6C4-4DD978D9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579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QUALITY ENGINEERING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7F9DEF-676B-4E4F-8EBF-DD5110B5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008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Functional, compatibility and regression validation with disciplined release readiness.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6FED1-4666-4356-B321-9B84C7DE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267450"/>
            <a:ext cx="31051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BEB291-6590-4DAD-B54F-094E14F9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267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CD958E-BD83-4C57-B3D7-BC75F27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579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SECURITY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BA3887-89C2-4603-B7F1-15D84C7B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008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Secure development practices, access controls, API protection, dependency hygiene and validation.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7AEED3-537E-498B-8EC7-D955D910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10550"/>
            <a:ext cx="636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FB9D8D-22F1-463E-B7DD-E6CABDC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91525"/>
            <a:ext cx="594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Quality, performance and security are designed into delivery - not checked at the end.</a:t>
            </a:r>
          </a:p>
        </p:txBody>
      </p:sp>
    </p:spTree>
    <p:extLst>
      <p:ext uri="{BB962C8B-B14F-4D97-AF65-F5344CB8AC3E}">
        <p14:creationId xmlns:p14="http://schemas.microsoft.com/office/powerpoint/2010/main" val="573244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6e3b5dde344c9"/>
          <a:stretch xmlns:a="http://schemas.openxmlformats.org/drawingml/2006/main"/>
        </p:blipFill>
        <p:spPr>
          <a:xfrm xmlns:a="http://schemas.openxmlformats.org/drawingml/2006/main">
            <a:off x="685800" y="466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35EC059F-5D31-4426-AF8D-7BE2C096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WORKMATE CONSULTANCY SERVICES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12E7B2-8560-4069-950F-1A483F29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38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HOW WE ENGAGE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6C1E71D-1681-430C-8E14-E7AFF48B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C03E620-949A-4B04-91E7-C875AF06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0115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6" name="footer-company">
            <a:extLst xmlns:a="http://schemas.openxmlformats.org/drawingml/2006/main">
              <a:ext uri="{FF2B5EF4-FFF2-40B4-BE49-F238E27FC236}">
                <a16:creationId xmlns:a16="http://schemas.microsoft.com/office/drawing/2014/main" id="{B22E669C-80EC-4788-B686-44132B35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Workmate Consultancy Services Pvt. Ltd.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9294E6-F8BF-40E3-931C-67F8559C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334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8E7FA5-9497-46C3-B99E-84370BDD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636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Engage the Way Your Team Works</a:t>
            </a:r>
          </a:p>
        </p:txBody>
      </p:sp>
      <p:sp>
        <p:nvSpPr>
          <p:cNvPr id="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1C83B9-13E8-4F38-A917-0E7E78DE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One specialist, a focused product team, a defined project or ongoing ownership - Workmate adapts to the need.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5EBD6-106F-42DD-B487-994FB59F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05150" cy="2533650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D9E4F5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4BBF9-95FF-4403-BD91-71F3DF9B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D7A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23D7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C4193-3853-43DB-A963-875A08A0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Staff Augmentation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1164A-D364-4C09-AEAB-56243AC3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D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4B93F-8644-4311-A877-2EA2EF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Add skilled professionals to your existing team and delivery rhythm.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C27F7-E823-41B3-8AD1-128FE288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1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Best when you retain roadmap and day-to-day ownership.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25059-FC59-496E-A00A-B1134FCB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24150"/>
            <a:ext cx="3105150" cy="2533650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75AF0-5D3F-434E-82C7-E8E5E6A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7A0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C47A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FCDA2-0653-477B-8335-DE2C57AF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671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Dedicated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6158C-1A56-46F7-A2B4-172336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7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EF0A7-2B72-432D-9EF7-DACFEA08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9575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A focused cross-functional team aligned to your product roadmap.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DB786-D4CD-40AA-9EA6-A84F0C29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720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1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Best when continuity, context and delivery capacity matter.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76A2C-441D-4606-95DC-2A9C7646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3105150" cy="2533650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ACAA5-9767-4123-BEBB-75F14F71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24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F6B24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3C722-0B3E-4C99-B520-B1CDA372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48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Project-Based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F8F8B-5DA0-4E31-8307-8E9964EC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8255B-CD2D-4A22-B342-0B670809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7705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Defined scope, milestones, timeline and delivery accountability.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C6AE3-8459-477B-81DA-FEDA5EE1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533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1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Best when the outcome and boundaries can be agreed upfront.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CF5A6-C79A-42E9-9674-4B930E9C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505450"/>
            <a:ext cx="3105150" cy="2533650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F7FA1F-042D-4F1A-BB0A-C367AF01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1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4B0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D64B0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60DA92-B86D-43C8-A456-AF73B4A1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248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Managed Services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20D5D9-C5EA-473F-ADBB-35F0EC2A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6675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4B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D48F1-2F17-4757-802C-C18A8EE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87705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Ongoing maintenance, monitoring, support, optimization and enhancement.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CA5419-9E9A-4C62-A009-D4AF2ED7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5533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1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Best when the platform needs dependable post-launch care.</a:t>
            </a:r>
          </a:p>
        </p:txBody>
      </p:sp>
    </p:spTree>
    <p:extLst>
      <p:ext uri="{BB962C8B-B14F-4D97-AF65-F5344CB8AC3E}">
        <p14:creationId xmlns:p14="http://schemas.microsoft.com/office/powerpoint/2010/main" val="1461270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35e1ff7d9427d"/>
          <a:stretch xmlns:a="http://schemas.openxmlformats.org/drawingml/2006/main"/>
        </p:blipFill>
        <p:spPr>
          <a:xfrm xmlns:a="http://schemas.openxmlformats.org/drawingml/2006/main">
            <a:off x="685800" y="466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49975638-CEFC-4713-9C85-8DD4AA39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WORKMATE CONSULTANCY SERVICES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404C0A7-EB8D-4F82-BC91-9FA3864C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38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WHY WORKMATE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715A017-8B9E-4B37-A50F-812050BA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55A8F2-7BFC-427A-B1D3-A0AC0D9F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0115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6" name="footer-company">
            <a:extLst xmlns:a="http://schemas.openxmlformats.org/drawingml/2006/main">
              <a:ext uri="{FF2B5EF4-FFF2-40B4-BE49-F238E27FC236}">
                <a16:creationId xmlns:a16="http://schemas.microsoft.com/office/drawing/2014/main" id="{B392C514-3BF1-4E40-A221-F6D80E24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Workmate Consultancy Services Pvt. Ltd.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2F502E-6107-45AA-9F3D-749F1D56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334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13" b="0">
                <a:solidFill>
                  <a:srgbClr val="6B686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6B686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9F5520-A034-49DA-937E-72702EF8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636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A Partner From Workshop to What Comes Next</a:t>
            </a:r>
          </a:p>
        </p:txBody>
      </p:sp>
      <p:sp>
        <p:nvSpPr>
          <p:cNvPr id="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0FDCD8-66AF-440C-A6D6-43E86D3F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Business context, technical depth and delivery accountability stay connected through the full lifecycle.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6DD51-7FD5-49C2-A4C8-5237E59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8CC31-8E51-407C-9766-F7A8DE93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Proficiency-first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10EE8-A97F-48AD-97E5-C5E893F2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Hands-on specialists focused on the work, not generic resourcing.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43DB7-1D3A-40EB-90DE-570377E2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43617-4B6C-4610-B313-4B7C2D83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C0C1A-9376-4175-AD5E-4DB832EA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Fixed 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92DB1-5B57-4754-908F-59475F8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Named ownership, transparent progress and clear delivery commitments.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0884E-88B6-4824-9695-2FC8FD71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8BCEA-4798-4E83-A209-B4987BB5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B082F-D0B9-4B73-AECA-14C6162D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Full lifecycle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96423-1952-47E0-8864-125DD175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05275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Strategy, design, engineering, secure validation and long-term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53BCF-E022-45E1-A0F0-AEEC1B9C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22693-2386-4F36-A55E-903275E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E180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AE180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3DA16-3594-409C-8B91-C6D9069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01E1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1E1D"/>
                </a:solidFill>
                <a:latin typeface="Calibri"/>
                <a:ea typeface="Calibri"/>
                <a:cs typeface="Calibri"/>
              </a:rPr>
              <a:t>Flexible engagement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31949-49C0-48B3-A59E-90552A87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29175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>
                <a:solidFill>
                  <a:srgbClr val="454141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454141"/>
                </a:solidFill>
                <a:latin typeface="Calibri"/>
                <a:ea typeface="Calibri"/>
                <a:cs typeface="Calibri"/>
              </a:rPr>
              <a:t>Capacity and commercial shape aligned to how your team needs to operate.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70190-9D18-46BB-B14B-ABC107E0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92A70-B964-46B0-88CF-21A31F6C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67818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8A172-63F4-444D-B495-2AF724A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436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Let's Build What's Next.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60E2F4-2F7F-4EFE-8FA2-9FB0E619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913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63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Tell us the business problem. We'll bring the strategy, design, engineering and delivery discipline to turn it into a scalable web experience.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181D6-44F9-4F7E-926C-674A4FDF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962900"/>
            <a:ext cx="550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7C7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E2B0E4-D910-465B-9E51-D83C00D8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191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info@wcspl.net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540132-EED0-43A1-9620-D933BC2B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91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+91 8130396263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062ACE-708C-4D26-A5A0-ADF71DDD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191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www.wcspl.net</a:t>
            </a:r>
          </a:p>
        </p:txBody>
      </p:sp>
    </p:spTree>
    <p:extLst>
      <p:ext uri="{BB962C8B-B14F-4D97-AF65-F5344CB8AC3E}">
        <p14:creationId xmlns:p14="http://schemas.microsoft.com/office/powerpoint/2010/main" val="2020998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2026-08-24T18:57:25.3910000Z</dcterms:created>
  <dcterms:modified xsi:type="dcterms:W3CDTF">2026-08-24T18:57:25.3910000Z</dcterms:modified>
</coreProperties>
</file>